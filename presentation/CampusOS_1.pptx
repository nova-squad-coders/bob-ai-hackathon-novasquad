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7F1B2D-2D5A-46D6-AC8B-32A81F8B0B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36F4E8-5388-443B-827A-C7EEFB644E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A149336-B994-4543-96C6-CEA41B3D4F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4234E4E-B75D-4822-BC10-DDF7A26CFE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905EC75-0614-48FC-B69E-1DB3D06BA3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CC013A8-3245-47B6-A159-995C55D6CA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50D9CD9-DE89-46CC-A2A3-368C41D13D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97C20AD-C3C8-4631-8496-989B61E945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D9787EE-D9B5-40E4-9B06-BE96C56356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12EC2D2-0817-4E85-B706-D44CB8462E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353EAB5-643F-4623-9EA2-A900D33214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E351C8-2F5E-4DBA-8AE8-1827B12B68F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11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DBE2CD-BCF3-44B5-8178-DF58D27181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3E43AB-F2F7-44D6-B437-69683E4817A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2112E7-E5D6-4A70-ABD2-63A50BC47FF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AC287F-B44D-4C39-AB31-CD964481D92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FDF2FF-7BE0-4FD9-9DFC-4E2FD9DE8C2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EBDE52-65E3-47DB-9B5B-009C9CF51D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C8B54B-1958-46EE-B037-CAD0E9BD628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728F65-2C1C-4FFB-AC66-8E84DC3AD3F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6E4A3E-E3DA-4EBA-BFF4-2CDA459915C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8BCAE3-6AF6-4A1E-8038-F95439DDE9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5.png"/><Relationship Id="rId6" Type="http://schemas.openxmlformats.org/officeDocument/2006/relationships/image" Target="../media/image5.png"/><Relationship Id="rId7" Type="http://schemas.openxmlformats.org/officeDocument/2006/relationships/image" Target="../media/image5.png"/><Relationship Id="rId8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Relationship Id="rId8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Relationship Id="rId9" Type="http://schemas.openxmlformats.org/officeDocument/2006/relationships/image" Target="../media/image24.png"/><Relationship Id="rId10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image.png"/>
          <p:cNvPicPr/>
          <p:nvPr/>
        </p:nvPicPr>
        <p:blipFill>
          <a:blip r:embed="rId1"/>
          <a:stretch/>
        </p:blipFill>
        <p:spPr>
          <a:xfrm>
            <a:off x="9720" y="-1764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68" name="TextBox 2"/>
          <p:cNvSpPr/>
          <p:nvPr/>
        </p:nvSpPr>
        <p:spPr>
          <a:xfrm>
            <a:off x="1895400" y="1728000"/>
            <a:ext cx="8400600" cy="16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f8fafc"/>
                </a:solidFill>
                <a:latin typeface="Space Grotesk"/>
              </a:rPr>
              <a:t>Welcome to CampusOS</a:t>
            </a:r>
            <a:endParaRPr b="0" lang="en-IN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2095560" y="3779640"/>
            <a:ext cx="8000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2880"/>
              </a:lnSpc>
            </a:pPr>
            <a:r>
              <a:rPr b="0" lang="en-US" sz="1800" spc="-1" strike="noStrike">
                <a:solidFill>
                  <a:srgbClr val="94a3b8"/>
                </a:solidFill>
                <a:latin typeface="Inter"/>
              </a:rPr>
              <a:t>The Next-Generation, AI-Powered Digital Workspace for College Students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71" name="TextBox 2"/>
          <p:cNvSpPr/>
          <p:nvPr/>
        </p:nvSpPr>
        <p:spPr>
          <a:xfrm>
            <a:off x="1804320" y="1476360"/>
            <a:ext cx="85107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f8fafc"/>
                </a:solidFill>
                <a:latin typeface="Space Grotesk"/>
              </a:rPr>
              <a:t>The Fragmentation Problem</a:t>
            </a:r>
            <a:endParaRPr b="0" lang="en-IN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2286000" y="3381840"/>
            <a:ext cx="7619760" cy="13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650" spc="-1" strike="noStrike">
                <a:solidFill>
                  <a:srgbClr val="cbd5e1"/>
                </a:solidFill>
                <a:latin typeface="Inter"/>
              </a:rPr>
              <a:t>Students currently juggle a messy web of disconnected apps: a to-do list, a banking app, an attendance calculator, separate notes, and a standalone resume builder. </a:t>
            </a:r>
            <a:endParaRPr b="0" lang="en-IN" sz="1650" spc="-1" strike="noStrike">
              <a:solidFill>
                <a:srgbClr val="ffffff"/>
              </a:solidFill>
              <a:latin typeface="Arial"/>
            </a:endParaRPr>
          </a:p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ts val="2639"/>
              </a:lnSpc>
            </a:pPr>
            <a:r>
              <a:rPr b="0" lang="en-US" sz="1650" spc="-1" strike="noStrike">
                <a:solidFill>
                  <a:srgbClr val="cbd5e1"/>
                </a:solidFill>
                <a:latin typeface="Inter"/>
              </a:rPr>
              <a:t> </a:t>
            </a:r>
            <a:r>
              <a:rPr b="0" lang="en-US" sz="1650" spc="-1" strike="noStrike">
                <a:solidFill>
                  <a:srgbClr val="cbd5e1"/>
                </a:solidFill>
                <a:latin typeface="Inter"/>
              </a:rPr>
              <a:t>Data is scattered, context is lost, and burnout increases.</a:t>
            </a:r>
            <a:endParaRPr b="0" lang="en-IN" sz="16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74" name="Picture 2" descr="image.png"/>
          <p:cNvPicPr/>
          <p:nvPr/>
        </p:nvPicPr>
        <p:blipFill>
          <a:blip r:embed="rId2"/>
          <a:stretch/>
        </p:blipFill>
        <p:spPr>
          <a:xfrm>
            <a:off x="6381720" y="2004840"/>
            <a:ext cx="5229000" cy="3809520"/>
          </a:xfrm>
          <a:prstGeom prst="rect">
            <a:avLst/>
          </a:prstGeom>
          <a:ln w="0">
            <a:noFill/>
          </a:ln>
        </p:spPr>
      </p:pic>
      <p:sp>
        <p:nvSpPr>
          <p:cNvPr id="75" name="TextBox 3"/>
          <p:cNvSpPr/>
          <p:nvPr/>
        </p:nvSpPr>
        <p:spPr>
          <a:xfrm>
            <a:off x="914400" y="1795320"/>
            <a:ext cx="489564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401"/>
              </a:lnSpc>
            </a:pPr>
            <a:r>
              <a:rPr b="1" lang="en-US" sz="1500" spc="-1" strike="noStrike">
                <a:solidFill>
                  <a:srgbClr val="cbd5e1"/>
                </a:solidFill>
                <a:latin typeface="Inter"/>
              </a:rPr>
              <a:t>A Unified Workspace:</a:t>
            </a:r>
            <a:r>
              <a:rPr b="0" lang="en-US" sz="1500" spc="-1" strike="noStrike">
                <a:solidFill>
                  <a:srgbClr val="cbd5e1"/>
                </a:solidFill>
                <a:latin typeface="Inter"/>
              </a:rPr>
              <a:t> CampusOS treats your entire college life as one connected dataset, not isolated apps.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914400" y="2852640"/>
            <a:ext cx="489564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401"/>
              </a:lnSpc>
            </a:pPr>
            <a:r>
              <a:rPr b="1" lang="en-US" sz="1500" spc="-1" strike="noStrike">
                <a:solidFill>
                  <a:srgbClr val="cbd5e1"/>
                </a:solidFill>
                <a:latin typeface="Inter"/>
              </a:rPr>
              <a:t>Real-Time Dashboard:</a:t>
            </a:r>
            <a:r>
              <a:rPr b="0" lang="en-US" sz="1500" spc="-1" strike="noStrike">
                <a:solidFill>
                  <a:srgbClr val="cbd5e1"/>
                </a:solidFill>
                <a:latin typeface="Inter"/>
              </a:rPr>
              <a:t> A live command center pulling tasks, spending, grades, and attendance into a single glance.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914400" y="3909960"/>
            <a:ext cx="489564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401"/>
              </a:lnSpc>
            </a:pPr>
            <a:r>
              <a:rPr b="1" lang="en-US" sz="1500" spc="-1" strike="noStrike">
                <a:solidFill>
                  <a:srgbClr val="cbd5e1"/>
                </a:solidFill>
                <a:latin typeface="Inter"/>
              </a:rPr>
              <a:t>Accessible Anywhere:</a:t>
            </a:r>
            <a:r>
              <a:rPr b="0" lang="en-US" sz="1500" spc="-1" strike="noStrike">
                <a:solidFill>
                  <a:srgbClr val="cbd5e1"/>
                </a:solidFill>
                <a:latin typeface="Inter"/>
              </a:rPr>
              <a:t> Create an account with a username and password to sync your life across all devices securely.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914400" y="4967280"/>
            <a:ext cx="489564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401"/>
              </a:lnSpc>
            </a:pPr>
            <a:r>
              <a:rPr b="1" lang="en-US" sz="1500" spc="-1" strike="noStrike">
                <a:solidFill>
                  <a:srgbClr val="cbd5e1"/>
                </a:solidFill>
                <a:latin typeface="Inter"/>
              </a:rPr>
              <a:t>Zero Friction:</a:t>
            </a:r>
            <a:r>
              <a:rPr b="0" lang="en-US" sz="1500" spc="-1" strike="noStrike">
                <a:solidFill>
                  <a:srgbClr val="cbd5e1"/>
                </a:solidFill>
                <a:latin typeface="Inter"/>
              </a:rPr>
              <a:t> Modules talk to each other seamlessly. Log an achievement today, auto-fill your resume tomorrow.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" name="Picture 7" descr="image.png"/>
          <p:cNvPicPr/>
          <p:nvPr/>
        </p:nvPicPr>
        <p:blipFill>
          <a:blip r:embed="rId3"/>
          <a:stretch/>
        </p:blipFill>
        <p:spPr>
          <a:xfrm>
            <a:off x="6391440" y="2014560"/>
            <a:ext cx="5209920" cy="3790440"/>
          </a:xfrm>
          <a:prstGeom prst="rect">
            <a:avLst/>
          </a:prstGeom>
          <a:ln w="0">
            <a:noFill/>
          </a:ln>
        </p:spPr>
      </p:pic>
      <p:sp>
        <p:nvSpPr>
          <p:cNvPr id="80" name="TextBox 8"/>
          <p:cNvSpPr/>
          <p:nvPr/>
        </p:nvSpPr>
        <p:spPr>
          <a:xfrm>
            <a:off x="581040" y="581040"/>
            <a:ext cx="115812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8fafc"/>
                </a:solidFill>
                <a:latin typeface="Space Grotesk"/>
              </a:rPr>
              <a:t>One Hub for Everything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1" name="Picture 9" descr="image.png"/>
          <p:cNvPicPr/>
          <p:nvPr/>
        </p:nvPicPr>
        <p:blipFill>
          <a:blip r:embed="rId4"/>
          <a:stretch/>
        </p:blipFill>
        <p:spPr>
          <a:xfrm>
            <a:off x="581040" y="1814400"/>
            <a:ext cx="95040" cy="19980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10" descr="image.png"/>
          <p:cNvPicPr/>
          <p:nvPr/>
        </p:nvPicPr>
        <p:blipFill>
          <a:blip r:embed="rId5"/>
          <a:stretch/>
        </p:blipFill>
        <p:spPr>
          <a:xfrm>
            <a:off x="581040" y="2871720"/>
            <a:ext cx="95040" cy="199800"/>
          </a:xfrm>
          <a:prstGeom prst="rect">
            <a:avLst/>
          </a:prstGeom>
          <a:ln w="0">
            <a:noFill/>
          </a:ln>
        </p:spPr>
      </p:pic>
      <p:pic>
        <p:nvPicPr>
          <p:cNvPr id="83" name="Picture 11" descr="image.png"/>
          <p:cNvPicPr/>
          <p:nvPr/>
        </p:nvPicPr>
        <p:blipFill>
          <a:blip r:embed="rId6"/>
          <a:stretch/>
        </p:blipFill>
        <p:spPr>
          <a:xfrm>
            <a:off x="581040" y="3929040"/>
            <a:ext cx="95040" cy="199800"/>
          </a:xfrm>
          <a:prstGeom prst="rect">
            <a:avLst/>
          </a:prstGeom>
          <a:ln w="0">
            <a:noFill/>
          </a:ln>
        </p:spPr>
      </p:pic>
      <p:pic>
        <p:nvPicPr>
          <p:cNvPr id="84" name="Picture 12" descr="image.png"/>
          <p:cNvPicPr/>
          <p:nvPr/>
        </p:nvPicPr>
        <p:blipFill>
          <a:blip r:embed="rId7"/>
          <a:stretch/>
        </p:blipFill>
        <p:spPr>
          <a:xfrm>
            <a:off x="581040" y="4986360"/>
            <a:ext cx="95040" cy="19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86" name="Picture 2" descr="image.png"/>
          <p:cNvPicPr/>
          <p:nvPr/>
        </p:nvPicPr>
        <p:blipFill>
          <a:blip r:embed="rId2"/>
          <a:stretch/>
        </p:blipFill>
        <p:spPr>
          <a:xfrm>
            <a:off x="581040" y="2408040"/>
            <a:ext cx="3422160" cy="3003480"/>
          </a:xfrm>
          <a:prstGeom prst="rect">
            <a:avLst/>
          </a:prstGeom>
          <a:ln w="0">
            <a:noFill/>
          </a:ln>
        </p:spPr>
      </p:pic>
      <p:pic>
        <p:nvPicPr>
          <p:cNvPr id="87" name="Picture 3" descr="image.png"/>
          <p:cNvPicPr/>
          <p:nvPr/>
        </p:nvPicPr>
        <p:blipFill>
          <a:blip r:embed="rId3"/>
          <a:stretch/>
        </p:blipFill>
        <p:spPr>
          <a:xfrm>
            <a:off x="4384800" y="2408040"/>
            <a:ext cx="3422160" cy="3003480"/>
          </a:xfrm>
          <a:prstGeom prst="rect">
            <a:avLst/>
          </a:prstGeom>
          <a:ln w="0">
            <a:noFill/>
          </a:ln>
        </p:spPr>
      </p:pic>
      <p:pic>
        <p:nvPicPr>
          <p:cNvPr id="88" name="Picture 4" descr="image.png"/>
          <p:cNvPicPr/>
          <p:nvPr/>
        </p:nvPicPr>
        <p:blipFill>
          <a:blip r:embed="rId4"/>
          <a:stretch/>
        </p:blipFill>
        <p:spPr>
          <a:xfrm>
            <a:off x="8188200" y="2408040"/>
            <a:ext cx="3422160" cy="3003480"/>
          </a:xfrm>
          <a:prstGeom prst="rect">
            <a:avLst/>
          </a:prstGeom>
          <a:ln w="0">
            <a:noFill/>
          </a:ln>
        </p:spPr>
      </p:pic>
      <p:sp>
        <p:nvSpPr>
          <p:cNvPr id="89" name="TextBox 5"/>
          <p:cNvSpPr/>
          <p:nvPr/>
        </p:nvSpPr>
        <p:spPr>
          <a:xfrm>
            <a:off x="1510200" y="3284280"/>
            <a:ext cx="1419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8fafc"/>
                </a:solidFill>
                <a:latin typeface="Space Grotesk SemiBold"/>
              </a:rPr>
              <a:t>Smart Tasks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876240" y="4046400"/>
            <a:ext cx="2831760" cy="9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919"/>
              </a:lnSpc>
            </a:pPr>
            <a:r>
              <a:rPr b="0" lang="en-US" sz="1200" spc="-1" strike="noStrike">
                <a:solidFill>
                  <a:srgbClr val="cbd5e1"/>
                </a:solidFill>
                <a:latin typeface="Inter"/>
              </a:rPr>
              <a:t>Manage assignments, exams, and deadlines with custom categories. Never miss a submission with advance alerts across devices.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Box 7"/>
          <p:cNvSpPr/>
          <p:nvPr/>
        </p:nvSpPr>
        <p:spPr>
          <a:xfrm>
            <a:off x="5472000" y="3320280"/>
            <a:ext cx="1205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8fafc"/>
                </a:solidFill>
                <a:latin typeface="Space Grotesk SemiBold"/>
              </a:rPr>
              <a:t>Spendee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4680000" y="4046400"/>
            <a:ext cx="2831760" cy="9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919"/>
              </a:lnSpc>
            </a:pPr>
            <a:r>
              <a:rPr b="0" lang="en-US" sz="1200" spc="-1" strike="noStrike">
                <a:solidFill>
                  <a:srgbClr val="cbd5e1"/>
                </a:solidFill>
                <a:latin typeface="Inter"/>
              </a:rPr>
              <a:t>Track expenses with category charts and monthly budgets. Includes a powerful debt tracker for split bills with friends.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9"/>
          <p:cNvSpPr/>
          <p:nvPr/>
        </p:nvSpPr>
        <p:spPr>
          <a:xfrm>
            <a:off x="9174240" y="3284280"/>
            <a:ext cx="144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8fafc"/>
                </a:solidFill>
                <a:latin typeface="Space Grotesk SemiBold"/>
              </a:rPr>
              <a:t>People Book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8483400" y="4046400"/>
            <a:ext cx="2831760" cy="9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919"/>
              </a:lnSpc>
            </a:pPr>
            <a:r>
              <a:rPr b="0" lang="en-US" sz="1200" spc="-1" strike="noStrike">
                <a:solidFill>
                  <a:srgbClr val="cbd5e1"/>
                </a:solidFill>
                <a:latin typeface="Inter"/>
              </a:rPr>
              <a:t>A unified contact book for professors, classmates, and study groups, featuring automated birthday reminders.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" name="Picture 11" descr="image.png"/>
          <p:cNvPicPr/>
          <p:nvPr/>
        </p:nvPicPr>
        <p:blipFill>
          <a:blip r:embed="rId5"/>
          <a:stretch/>
        </p:blipFill>
        <p:spPr>
          <a:xfrm>
            <a:off x="2054160" y="2846160"/>
            <a:ext cx="475920" cy="47592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12" descr="image.png"/>
          <p:cNvPicPr/>
          <p:nvPr/>
        </p:nvPicPr>
        <p:blipFill>
          <a:blip r:embed="rId6"/>
          <a:stretch/>
        </p:blipFill>
        <p:spPr>
          <a:xfrm>
            <a:off x="5857560" y="2846160"/>
            <a:ext cx="475920" cy="475920"/>
          </a:xfrm>
          <a:prstGeom prst="rect">
            <a:avLst/>
          </a:prstGeom>
          <a:ln w="0">
            <a:noFill/>
          </a:ln>
        </p:spPr>
      </p:pic>
      <p:pic>
        <p:nvPicPr>
          <p:cNvPr id="97" name="Picture 13" descr="image.png"/>
          <p:cNvPicPr/>
          <p:nvPr/>
        </p:nvPicPr>
        <p:blipFill>
          <a:blip r:embed="rId7"/>
          <a:stretch/>
        </p:blipFill>
        <p:spPr>
          <a:xfrm>
            <a:off x="9599400" y="2846160"/>
            <a:ext cx="599760" cy="475920"/>
          </a:xfrm>
          <a:prstGeom prst="rect">
            <a:avLst/>
          </a:prstGeom>
          <a:ln w="0">
            <a:noFill/>
          </a:ln>
        </p:spPr>
      </p:pic>
      <p:sp>
        <p:nvSpPr>
          <p:cNvPr id="98" name="TextBox 14"/>
          <p:cNvSpPr/>
          <p:nvPr/>
        </p:nvSpPr>
        <p:spPr>
          <a:xfrm>
            <a:off x="581040" y="581040"/>
            <a:ext cx="115812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8fafc"/>
                </a:solidFill>
                <a:latin typeface="Space Grotesk"/>
              </a:rPr>
              <a:t>Daily Life Management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00" name="Picture 2" descr="image.png"/>
          <p:cNvPicPr/>
          <p:nvPr/>
        </p:nvPicPr>
        <p:blipFill>
          <a:blip r:embed="rId2"/>
          <a:stretch/>
        </p:blipFill>
        <p:spPr>
          <a:xfrm>
            <a:off x="581040" y="2408040"/>
            <a:ext cx="3422160" cy="3003480"/>
          </a:xfrm>
          <a:prstGeom prst="rect">
            <a:avLst/>
          </a:prstGeom>
          <a:ln w="0">
            <a:noFill/>
          </a:ln>
        </p:spPr>
      </p:pic>
      <p:pic>
        <p:nvPicPr>
          <p:cNvPr id="101" name="Picture 3" descr="image.png"/>
          <p:cNvPicPr/>
          <p:nvPr/>
        </p:nvPicPr>
        <p:blipFill>
          <a:blip r:embed="rId3"/>
          <a:stretch/>
        </p:blipFill>
        <p:spPr>
          <a:xfrm>
            <a:off x="4384800" y="2408040"/>
            <a:ext cx="3422160" cy="3003480"/>
          </a:xfrm>
          <a:prstGeom prst="rect">
            <a:avLst/>
          </a:prstGeom>
          <a:ln w="0">
            <a:noFill/>
          </a:ln>
        </p:spPr>
      </p:pic>
      <p:pic>
        <p:nvPicPr>
          <p:cNvPr id="102" name="Picture 4" descr="image.png"/>
          <p:cNvPicPr/>
          <p:nvPr/>
        </p:nvPicPr>
        <p:blipFill>
          <a:blip r:embed="rId4"/>
          <a:stretch/>
        </p:blipFill>
        <p:spPr>
          <a:xfrm>
            <a:off x="8188200" y="2408040"/>
            <a:ext cx="3422160" cy="3003480"/>
          </a:xfrm>
          <a:prstGeom prst="rect">
            <a:avLst/>
          </a:prstGeom>
          <a:ln w="0">
            <a:noFill/>
          </a:ln>
        </p:spPr>
      </p:pic>
      <p:sp>
        <p:nvSpPr>
          <p:cNvPr id="103" name="TextBox 5"/>
          <p:cNvSpPr/>
          <p:nvPr/>
        </p:nvSpPr>
        <p:spPr>
          <a:xfrm>
            <a:off x="1127160" y="3320280"/>
            <a:ext cx="232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8fafc"/>
                </a:solidFill>
                <a:latin typeface="Space Grotesk SemiBold"/>
              </a:rPr>
              <a:t>Performance Matrix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876240" y="4046400"/>
            <a:ext cx="2831760" cy="9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919"/>
              </a:lnSpc>
            </a:pPr>
            <a:r>
              <a:rPr b="0" lang="en-US" sz="1200" spc="-1" strike="noStrike">
                <a:solidFill>
                  <a:srgbClr val="cbd5e1"/>
                </a:solidFill>
                <a:latin typeface="Inter"/>
              </a:rPr>
              <a:t>Track scores by subject, set academic targets, and utilize the built-in simulator to calculate "what if" grade scenarios.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Box 7"/>
          <p:cNvSpPr/>
          <p:nvPr/>
        </p:nvSpPr>
        <p:spPr>
          <a:xfrm>
            <a:off x="5280840" y="3356280"/>
            <a:ext cx="162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8fafc"/>
                </a:solidFill>
                <a:latin typeface="Space Grotesk SemiBold"/>
              </a:rPr>
              <a:t>Digital Library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Box 8"/>
          <p:cNvSpPr/>
          <p:nvPr/>
        </p:nvSpPr>
        <p:spPr>
          <a:xfrm>
            <a:off x="4680000" y="4046400"/>
            <a:ext cx="2831760" cy="9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919"/>
              </a:lnSpc>
            </a:pPr>
            <a:r>
              <a:rPr b="0" lang="en-US" sz="1200" spc="-1" strike="noStrike">
                <a:solidFill>
                  <a:srgbClr val="cbd5e1"/>
                </a:solidFill>
                <a:latin typeface="Inter"/>
              </a:rPr>
              <a:t>Organize PDFs, links, and typed notes by semester and subject. Fully searchable so information is retrieved instantly.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Box 9"/>
          <p:cNvSpPr/>
          <p:nvPr/>
        </p:nvSpPr>
        <p:spPr>
          <a:xfrm>
            <a:off x="8764200" y="3356280"/>
            <a:ext cx="2269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8fafc"/>
                </a:solidFill>
                <a:latin typeface="Space Grotesk SemiBold"/>
              </a:rPr>
              <a:t>Attendance Tracker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8483400" y="4046400"/>
            <a:ext cx="2831760" cy="9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919"/>
              </a:lnSpc>
            </a:pPr>
            <a:r>
              <a:rPr b="0" lang="en-US" sz="1200" spc="-1" strike="noStrike">
                <a:solidFill>
                  <a:srgbClr val="cbd5e1"/>
                </a:solidFill>
                <a:latin typeface="Inter"/>
              </a:rPr>
              <a:t>Configure custom college requirements. Removes attendance anxiety by exactly calculating your current standing.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9" name="Picture 11" descr="image.png"/>
          <p:cNvPicPr/>
          <p:nvPr/>
        </p:nvPicPr>
        <p:blipFill>
          <a:blip r:embed="rId5"/>
          <a:stretch/>
        </p:blipFill>
        <p:spPr>
          <a:xfrm>
            <a:off x="2054160" y="2846160"/>
            <a:ext cx="475920" cy="475920"/>
          </a:xfrm>
          <a:prstGeom prst="rect">
            <a:avLst/>
          </a:prstGeom>
          <a:ln w="0">
            <a:noFill/>
          </a:ln>
        </p:spPr>
      </p:pic>
      <p:pic>
        <p:nvPicPr>
          <p:cNvPr id="110" name="Picture 12" descr="image.png"/>
          <p:cNvPicPr/>
          <p:nvPr/>
        </p:nvPicPr>
        <p:blipFill>
          <a:blip r:embed="rId6"/>
          <a:stretch/>
        </p:blipFill>
        <p:spPr>
          <a:xfrm>
            <a:off x="5857560" y="2846160"/>
            <a:ext cx="475920" cy="475920"/>
          </a:xfrm>
          <a:prstGeom prst="rect">
            <a:avLst/>
          </a:prstGeom>
          <a:ln w="0">
            <a:noFill/>
          </a:ln>
        </p:spPr>
      </p:pic>
      <p:pic>
        <p:nvPicPr>
          <p:cNvPr id="111" name="Picture 13" descr="image.png"/>
          <p:cNvPicPr/>
          <p:nvPr/>
        </p:nvPicPr>
        <p:blipFill>
          <a:blip r:embed="rId7"/>
          <a:stretch/>
        </p:blipFill>
        <p:spPr>
          <a:xfrm>
            <a:off x="9689760" y="2846160"/>
            <a:ext cx="418680" cy="475920"/>
          </a:xfrm>
          <a:prstGeom prst="rect">
            <a:avLst/>
          </a:prstGeom>
          <a:ln w="0">
            <a:noFill/>
          </a:ln>
        </p:spPr>
      </p:pic>
      <p:sp>
        <p:nvSpPr>
          <p:cNvPr id="112" name="TextBox 14"/>
          <p:cNvSpPr/>
          <p:nvPr/>
        </p:nvSpPr>
        <p:spPr>
          <a:xfrm>
            <a:off x="581040" y="581040"/>
            <a:ext cx="115812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8fafc"/>
                </a:solidFill>
                <a:latin typeface="Space Grotesk"/>
              </a:rPr>
              <a:t>The Academic Hub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14" name="Picture 2" descr="image.png"/>
          <p:cNvPicPr/>
          <p:nvPr/>
        </p:nvPicPr>
        <p:blipFill>
          <a:blip r:embed="rId2"/>
          <a:stretch/>
        </p:blipFill>
        <p:spPr>
          <a:xfrm>
            <a:off x="581040" y="2115720"/>
            <a:ext cx="3422160" cy="3588480"/>
          </a:xfrm>
          <a:prstGeom prst="rect">
            <a:avLst/>
          </a:prstGeom>
          <a:ln w="0">
            <a:noFill/>
          </a:ln>
        </p:spPr>
      </p:pic>
      <p:pic>
        <p:nvPicPr>
          <p:cNvPr id="115" name="Picture 3" descr="image.png"/>
          <p:cNvPicPr/>
          <p:nvPr/>
        </p:nvPicPr>
        <p:blipFill>
          <a:blip r:embed="rId3"/>
          <a:stretch/>
        </p:blipFill>
        <p:spPr>
          <a:xfrm>
            <a:off x="4384800" y="2115720"/>
            <a:ext cx="3422160" cy="3588480"/>
          </a:xfrm>
          <a:prstGeom prst="rect">
            <a:avLst/>
          </a:prstGeom>
          <a:ln w="0">
            <a:noFill/>
          </a:ln>
        </p:spPr>
      </p:pic>
      <p:pic>
        <p:nvPicPr>
          <p:cNvPr id="116" name="Picture 4" descr="image.png"/>
          <p:cNvPicPr/>
          <p:nvPr/>
        </p:nvPicPr>
        <p:blipFill>
          <a:blip r:embed="rId4"/>
          <a:stretch/>
        </p:blipFill>
        <p:spPr>
          <a:xfrm>
            <a:off x="8188200" y="2115720"/>
            <a:ext cx="3422160" cy="3588480"/>
          </a:xfrm>
          <a:prstGeom prst="rect">
            <a:avLst/>
          </a:prstGeom>
          <a:ln w="0">
            <a:noFill/>
          </a:ln>
        </p:spPr>
      </p:pic>
      <p:pic>
        <p:nvPicPr>
          <p:cNvPr id="117" name="Picture 5" descr="image.png"/>
          <p:cNvPicPr/>
          <p:nvPr/>
        </p:nvPicPr>
        <p:blipFill>
          <a:blip r:embed="rId5"/>
          <a:stretch/>
        </p:blipFill>
        <p:spPr>
          <a:xfrm>
            <a:off x="781200" y="2315520"/>
            <a:ext cx="3022200" cy="1904760"/>
          </a:xfrm>
          <a:prstGeom prst="rect">
            <a:avLst/>
          </a:prstGeom>
          <a:ln w="0">
            <a:noFill/>
          </a:ln>
        </p:spPr>
      </p:pic>
      <p:pic>
        <p:nvPicPr>
          <p:cNvPr id="118" name="Picture 6" descr="image.png"/>
          <p:cNvPicPr/>
          <p:nvPr/>
        </p:nvPicPr>
        <p:blipFill>
          <a:blip r:embed="rId6"/>
          <a:stretch/>
        </p:blipFill>
        <p:spPr>
          <a:xfrm>
            <a:off x="4584600" y="2315520"/>
            <a:ext cx="3022200" cy="1904760"/>
          </a:xfrm>
          <a:prstGeom prst="rect">
            <a:avLst/>
          </a:prstGeom>
          <a:ln w="0">
            <a:noFill/>
          </a:ln>
        </p:spPr>
      </p:pic>
      <p:pic>
        <p:nvPicPr>
          <p:cNvPr id="119" name="Picture 7" descr="image.png"/>
          <p:cNvPicPr/>
          <p:nvPr/>
        </p:nvPicPr>
        <p:blipFill>
          <a:blip r:embed="rId7"/>
          <a:stretch/>
        </p:blipFill>
        <p:spPr>
          <a:xfrm>
            <a:off x="8388360" y="2315520"/>
            <a:ext cx="3022200" cy="1904760"/>
          </a:xfrm>
          <a:prstGeom prst="rect">
            <a:avLst/>
          </a:prstGeom>
          <a:ln w="0">
            <a:noFill/>
          </a:ln>
        </p:spPr>
      </p:pic>
      <p:sp>
        <p:nvSpPr>
          <p:cNvPr id="120" name="TextBox 8"/>
          <p:cNvSpPr/>
          <p:nvPr/>
        </p:nvSpPr>
        <p:spPr>
          <a:xfrm>
            <a:off x="705600" y="4411080"/>
            <a:ext cx="31734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50" spc="-1" strike="noStrike">
                <a:solidFill>
                  <a:srgbClr val="f8fafc"/>
                </a:solidFill>
                <a:latin typeface="Space Grotesk SemiBold"/>
              </a:rPr>
              <a:t>Achievement Vault</a:t>
            </a:r>
            <a:endParaRPr b="0" lang="en-IN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Box 9"/>
          <p:cNvSpPr/>
          <p:nvPr/>
        </p:nvSpPr>
        <p:spPr>
          <a:xfrm>
            <a:off x="781200" y="4773240"/>
            <a:ext cx="302220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919"/>
              </a:lnSpc>
            </a:pPr>
            <a:r>
              <a:rPr b="0" lang="en-US" sz="1200" spc="-1" strike="noStrike">
                <a:solidFill>
                  <a:srgbClr val="cbd5e1"/>
                </a:solidFill>
                <a:latin typeface="Inter"/>
              </a:rPr>
              <a:t>Log certificates and wins the moment you earn them. Nothing gets forgotten.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Box 10"/>
          <p:cNvSpPr/>
          <p:nvPr/>
        </p:nvSpPr>
        <p:spPr>
          <a:xfrm>
            <a:off x="4509000" y="4411080"/>
            <a:ext cx="31734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50" spc="-1" strike="noStrike">
                <a:solidFill>
                  <a:srgbClr val="f8fafc"/>
                </a:solidFill>
                <a:latin typeface="Space Grotesk SemiBold"/>
              </a:rPr>
              <a:t>Resume Builder</a:t>
            </a:r>
            <a:endParaRPr b="0" lang="en-IN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Box 11"/>
          <p:cNvSpPr/>
          <p:nvPr/>
        </p:nvSpPr>
        <p:spPr>
          <a:xfrm>
            <a:off x="4584600" y="4773240"/>
            <a:ext cx="3022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919"/>
              </a:lnSpc>
            </a:pPr>
            <a:r>
              <a:rPr b="0" lang="en-US" sz="1200" spc="-1" strike="noStrike">
                <a:solidFill>
                  <a:srgbClr val="cbd5e1"/>
                </a:solidFill>
                <a:latin typeface="Inter"/>
              </a:rPr>
              <a:t>Pulls data directly from your Vault. Generate professional, exportable PDFs instantly.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Box 12"/>
          <p:cNvSpPr/>
          <p:nvPr/>
        </p:nvSpPr>
        <p:spPr>
          <a:xfrm>
            <a:off x="8312760" y="4411080"/>
            <a:ext cx="317340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50" spc="-1" strike="noStrike">
                <a:solidFill>
                  <a:srgbClr val="f8fafc"/>
                </a:solidFill>
                <a:latin typeface="Space Grotesk SemiBold"/>
              </a:rPr>
              <a:t>Ready to Launch</a:t>
            </a:r>
            <a:endParaRPr b="0" lang="en-IN" sz="1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13"/>
          <p:cNvSpPr/>
          <p:nvPr/>
        </p:nvSpPr>
        <p:spPr>
          <a:xfrm>
            <a:off x="8388360" y="4773240"/>
            <a:ext cx="3022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1919"/>
              </a:lnSpc>
            </a:pPr>
            <a:r>
              <a:rPr b="0" lang="en-US" sz="1200" spc="-1" strike="noStrike">
                <a:solidFill>
                  <a:srgbClr val="cbd5e1"/>
                </a:solidFill>
                <a:latin typeface="Inter"/>
              </a:rPr>
              <a:t>Transition from student life to professional life seamlessly with all your verified data.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6" name="Picture 14" descr="image.png"/>
          <p:cNvPicPr/>
          <p:nvPr/>
        </p:nvPicPr>
        <p:blipFill>
          <a:blip r:embed="rId8"/>
          <a:stretch/>
        </p:blipFill>
        <p:spPr>
          <a:xfrm>
            <a:off x="781200" y="2315520"/>
            <a:ext cx="3022200" cy="1904760"/>
          </a:xfrm>
          <a:prstGeom prst="rect">
            <a:avLst/>
          </a:prstGeom>
          <a:ln w="0">
            <a:noFill/>
          </a:ln>
        </p:spPr>
      </p:pic>
      <p:pic>
        <p:nvPicPr>
          <p:cNvPr id="127" name="Picture 15" descr="image.png"/>
          <p:cNvPicPr/>
          <p:nvPr/>
        </p:nvPicPr>
        <p:blipFill>
          <a:blip r:embed="rId9"/>
          <a:stretch/>
        </p:blipFill>
        <p:spPr>
          <a:xfrm>
            <a:off x="4584600" y="2315520"/>
            <a:ext cx="3022200" cy="1904760"/>
          </a:xfrm>
          <a:prstGeom prst="rect">
            <a:avLst/>
          </a:prstGeom>
          <a:ln w="0">
            <a:noFill/>
          </a:ln>
        </p:spPr>
      </p:pic>
      <p:pic>
        <p:nvPicPr>
          <p:cNvPr id="128" name="Picture 16" descr="image.png"/>
          <p:cNvPicPr/>
          <p:nvPr/>
        </p:nvPicPr>
        <p:blipFill>
          <a:blip r:embed="rId10"/>
          <a:stretch/>
        </p:blipFill>
        <p:spPr>
          <a:xfrm>
            <a:off x="8388360" y="2315520"/>
            <a:ext cx="3022200" cy="1904760"/>
          </a:xfrm>
          <a:prstGeom prst="rect">
            <a:avLst/>
          </a:prstGeom>
          <a:ln w="0">
            <a:noFill/>
          </a:ln>
        </p:spPr>
      </p:pic>
      <p:sp>
        <p:nvSpPr>
          <p:cNvPr id="129" name="TextBox 17"/>
          <p:cNvSpPr/>
          <p:nvPr/>
        </p:nvSpPr>
        <p:spPr>
          <a:xfrm>
            <a:off x="581040" y="581040"/>
            <a:ext cx="115812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8fafc"/>
                </a:solidFill>
                <a:latin typeface="Space Grotesk"/>
              </a:rPr>
              <a:t>Built for Your Future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31" name="Table 2"/>
          <p:cNvGraphicFramePr/>
          <p:nvPr/>
        </p:nvGraphicFramePr>
        <p:xfrm>
          <a:off x="581040" y="2317680"/>
          <a:ext cx="11010600" cy="3184560"/>
        </p:xfrm>
        <a:graphic>
          <a:graphicData uri="http://schemas.openxmlformats.org/drawingml/2006/table">
            <a:tbl>
              <a:tblPr/>
              <a:tblGrid>
                <a:gridCol w="3475440"/>
                <a:gridCol w="3431520"/>
                <a:gridCol w="4103280"/>
              </a:tblGrid>
              <a:tr h="63684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2d3ee"/>
                          </a:solidFill>
                          <a:latin typeface="Space Grotesk"/>
                        </a:rPr>
                        <a:t>Feature / Capability</a:t>
                      </a:r>
                      <a:endParaRPr b="0" lang="en-IN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2d3ee"/>
                          </a:solidFill>
                          <a:latin typeface="Space Grotesk"/>
                        </a:rPr>
                        <a:t>Standard Tool Stack</a:t>
                      </a:r>
                      <a:endParaRPr b="0" lang="en-IN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2d3ee"/>
                          </a:solidFill>
                          <a:latin typeface="Space Grotesk"/>
                        </a:rPr>
                        <a:t>CampusOS Online</a:t>
                      </a:r>
                      <a:endParaRPr b="0" lang="en-IN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3684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Data Integration</a:t>
                      </a:r>
                      <a:endParaRPr b="0" lang="en-IN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None (Siloed Apps)</a:t>
                      </a:r>
                      <a:endParaRPr b="0" lang="en-IN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34272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Fully interconnected</a:t>
                      </a:r>
                      <a:endParaRPr b="0" lang="en-IN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4272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63684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Attendance &amp; Grade Logic</a:t>
                      </a:r>
                      <a:endParaRPr b="0" lang="en-IN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Generic Calculators</a:t>
                      </a:r>
                      <a:endParaRPr b="0" lang="en-IN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34272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Customized to your college</a:t>
                      </a:r>
                      <a:endParaRPr b="0" lang="en-IN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4272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3684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Cross-Device Sync</a:t>
                      </a:r>
                      <a:endParaRPr b="0" lang="en-IN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Varies by App</a:t>
                      </a:r>
                      <a:endParaRPr b="0" lang="en-IN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34272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Real-time cloud sync</a:t>
                      </a:r>
                      <a:endParaRPr b="0" lang="en-IN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4272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636840"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AI Assistance</a:t>
                      </a:r>
                      <a:endParaRPr b="0" lang="en-IN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Manual setup needed</a:t>
                      </a:r>
                      <a:endParaRPr b="0" lang="en-IN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342720" rIns="63360" tIns="2520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Inter"/>
                        </a:rPr>
                        <a:t>Integrated AI Copilot (Soon)</a:t>
                      </a:r>
                      <a:endParaRPr b="0" lang="en-IN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42720" marR="633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32" name="Rectangle 3"/>
          <p:cNvSpPr/>
          <p:nvPr/>
        </p:nvSpPr>
        <p:spPr>
          <a:xfrm>
            <a:off x="590400" y="2955600"/>
            <a:ext cx="347508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Rectangle 4"/>
          <p:cNvSpPr/>
          <p:nvPr/>
        </p:nvSpPr>
        <p:spPr>
          <a:xfrm>
            <a:off x="4066200" y="2955600"/>
            <a:ext cx="343116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Rectangle 5"/>
          <p:cNvSpPr/>
          <p:nvPr/>
        </p:nvSpPr>
        <p:spPr>
          <a:xfrm>
            <a:off x="7497720" y="2955600"/>
            <a:ext cx="410328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Rectangle 6"/>
          <p:cNvSpPr/>
          <p:nvPr/>
        </p:nvSpPr>
        <p:spPr>
          <a:xfrm>
            <a:off x="590400" y="3589920"/>
            <a:ext cx="347508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Rectangle 7"/>
          <p:cNvSpPr/>
          <p:nvPr/>
        </p:nvSpPr>
        <p:spPr>
          <a:xfrm>
            <a:off x="4066200" y="3589920"/>
            <a:ext cx="343116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Rectangle 8"/>
          <p:cNvSpPr/>
          <p:nvPr/>
        </p:nvSpPr>
        <p:spPr>
          <a:xfrm>
            <a:off x="7497720" y="3589920"/>
            <a:ext cx="410328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Rectangle 9"/>
          <p:cNvSpPr/>
          <p:nvPr/>
        </p:nvSpPr>
        <p:spPr>
          <a:xfrm>
            <a:off x="590400" y="4224240"/>
            <a:ext cx="347508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Rectangle 10"/>
          <p:cNvSpPr/>
          <p:nvPr/>
        </p:nvSpPr>
        <p:spPr>
          <a:xfrm>
            <a:off x="4066200" y="4224240"/>
            <a:ext cx="343116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Rectangle 11"/>
          <p:cNvSpPr/>
          <p:nvPr/>
        </p:nvSpPr>
        <p:spPr>
          <a:xfrm>
            <a:off x="7497720" y="4224240"/>
            <a:ext cx="410328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Rectangle 12"/>
          <p:cNvSpPr/>
          <p:nvPr/>
        </p:nvSpPr>
        <p:spPr>
          <a:xfrm>
            <a:off x="590400" y="4858560"/>
            <a:ext cx="347508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Rectangle 13"/>
          <p:cNvSpPr/>
          <p:nvPr/>
        </p:nvSpPr>
        <p:spPr>
          <a:xfrm>
            <a:off x="4066200" y="4858560"/>
            <a:ext cx="343116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Rectangle 14"/>
          <p:cNvSpPr/>
          <p:nvPr/>
        </p:nvSpPr>
        <p:spPr>
          <a:xfrm>
            <a:off x="7497720" y="4858560"/>
            <a:ext cx="4103280" cy="900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4" name="Picture 15" descr="image.png"/>
          <p:cNvPicPr/>
          <p:nvPr/>
        </p:nvPicPr>
        <p:blipFill>
          <a:blip r:embed="rId2"/>
          <a:stretch/>
        </p:blipFill>
        <p:spPr>
          <a:xfrm>
            <a:off x="7688160" y="3828240"/>
            <a:ext cx="132840" cy="151920"/>
          </a:xfrm>
          <a:prstGeom prst="rect">
            <a:avLst/>
          </a:prstGeom>
          <a:ln w="0">
            <a:noFill/>
          </a:ln>
        </p:spPr>
      </p:pic>
      <p:pic>
        <p:nvPicPr>
          <p:cNvPr id="145" name="Picture 16" descr="image.png"/>
          <p:cNvPicPr/>
          <p:nvPr/>
        </p:nvPicPr>
        <p:blipFill>
          <a:blip r:embed="rId3"/>
          <a:stretch/>
        </p:blipFill>
        <p:spPr>
          <a:xfrm>
            <a:off x="7688160" y="3193920"/>
            <a:ext cx="132840" cy="151920"/>
          </a:xfrm>
          <a:prstGeom prst="rect">
            <a:avLst/>
          </a:prstGeom>
          <a:ln w="0">
            <a:noFill/>
          </a:ln>
        </p:spPr>
      </p:pic>
      <p:pic>
        <p:nvPicPr>
          <p:cNvPr id="146" name="Picture 17" descr="image.png"/>
          <p:cNvPicPr/>
          <p:nvPr/>
        </p:nvPicPr>
        <p:blipFill>
          <a:blip r:embed="rId4"/>
          <a:stretch/>
        </p:blipFill>
        <p:spPr>
          <a:xfrm>
            <a:off x="7688160" y="5096880"/>
            <a:ext cx="132840" cy="15192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18" descr="image.png"/>
          <p:cNvPicPr/>
          <p:nvPr/>
        </p:nvPicPr>
        <p:blipFill>
          <a:blip r:embed="rId5"/>
          <a:stretch/>
        </p:blipFill>
        <p:spPr>
          <a:xfrm>
            <a:off x="7688160" y="4462560"/>
            <a:ext cx="132840" cy="151920"/>
          </a:xfrm>
          <a:prstGeom prst="rect">
            <a:avLst/>
          </a:prstGeom>
          <a:ln w="0">
            <a:noFill/>
          </a:ln>
        </p:spPr>
      </p:pic>
      <p:pic>
        <p:nvPicPr>
          <p:cNvPr id="148" name="Picture 19" descr="image.png"/>
          <p:cNvPicPr/>
          <p:nvPr/>
        </p:nvPicPr>
        <p:blipFill>
          <a:blip r:embed="rId6"/>
          <a:stretch/>
        </p:blipFill>
        <p:spPr>
          <a:xfrm>
            <a:off x="7688160" y="3193920"/>
            <a:ext cx="132840" cy="151920"/>
          </a:xfrm>
          <a:prstGeom prst="rect">
            <a:avLst/>
          </a:prstGeom>
          <a:ln w="0">
            <a:noFill/>
          </a:ln>
        </p:spPr>
      </p:pic>
      <p:pic>
        <p:nvPicPr>
          <p:cNvPr id="149" name="Picture 20" descr="image.png"/>
          <p:cNvPicPr/>
          <p:nvPr/>
        </p:nvPicPr>
        <p:blipFill>
          <a:blip r:embed="rId7"/>
          <a:stretch/>
        </p:blipFill>
        <p:spPr>
          <a:xfrm>
            <a:off x="7688160" y="3828240"/>
            <a:ext cx="132840" cy="151920"/>
          </a:xfrm>
          <a:prstGeom prst="rect">
            <a:avLst/>
          </a:prstGeom>
          <a:ln w="0">
            <a:noFill/>
          </a:ln>
        </p:spPr>
      </p:pic>
      <p:pic>
        <p:nvPicPr>
          <p:cNvPr id="150" name="Picture 21" descr="image.png"/>
          <p:cNvPicPr/>
          <p:nvPr/>
        </p:nvPicPr>
        <p:blipFill>
          <a:blip r:embed="rId8"/>
          <a:stretch/>
        </p:blipFill>
        <p:spPr>
          <a:xfrm>
            <a:off x="7688160" y="4462560"/>
            <a:ext cx="132840" cy="151920"/>
          </a:xfrm>
          <a:prstGeom prst="rect">
            <a:avLst/>
          </a:prstGeom>
          <a:ln w="0">
            <a:noFill/>
          </a:ln>
        </p:spPr>
      </p:pic>
      <p:pic>
        <p:nvPicPr>
          <p:cNvPr id="151" name="Picture 22" descr="image.png"/>
          <p:cNvPicPr/>
          <p:nvPr/>
        </p:nvPicPr>
        <p:blipFill>
          <a:blip r:embed="rId9"/>
          <a:stretch/>
        </p:blipFill>
        <p:spPr>
          <a:xfrm>
            <a:off x="7688160" y="5096880"/>
            <a:ext cx="132840" cy="151920"/>
          </a:xfrm>
          <a:prstGeom prst="rect">
            <a:avLst/>
          </a:prstGeom>
          <a:ln w="0">
            <a:noFill/>
          </a:ln>
        </p:spPr>
      </p:pic>
      <p:sp>
        <p:nvSpPr>
          <p:cNvPr id="152" name="TextBox 23"/>
          <p:cNvSpPr/>
          <p:nvPr/>
        </p:nvSpPr>
        <p:spPr>
          <a:xfrm>
            <a:off x="581040" y="581040"/>
            <a:ext cx="115812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8fafc"/>
                </a:solidFill>
                <a:latin typeface="Space Grotesk"/>
              </a:rPr>
              <a:t>The CampusOS Advantage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54" name="TextBox 2"/>
          <p:cNvSpPr/>
          <p:nvPr/>
        </p:nvSpPr>
        <p:spPr>
          <a:xfrm>
            <a:off x="581040" y="581040"/>
            <a:ext cx="549036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8fafc"/>
                </a:solidFill>
                <a:latin typeface="Space Grotesk"/>
              </a:rPr>
              <a:t>Future Planning: </a:t>
            </a:r>
            <a:r>
              <a:rPr b="1" lang="en-US" sz="3600" spc="-1" strike="noStrike">
                <a:solidFill>
                  <a:srgbClr val="22d3ee"/>
                </a:solidFill>
                <a:latin typeface="Space Grotesk"/>
              </a:rPr>
              <a:t>Cloud Infrastructure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5" name="Picture 3" descr="image.png"/>
          <p:cNvPicPr/>
          <p:nvPr/>
        </p:nvPicPr>
        <p:blipFill>
          <a:blip r:embed="rId2"/>
          <a:stretch/>
        </p:blipFill>
        <p:spPr>
          <a:xfrm>
            <a:off x="6381720" y="9360"/>
            <a:ext cx="5800320" cy="6857640"/>
          </a:xfrm>
          <a:prstGeom prst="rect">
            <a:avLst/>
          </a:prstGeom>
          <a:ln w="0">
            <a:noFill/>
          </a:ln>
        </p:spPr>
      </p:pic>
      <p:sp>
        <p:nvSpPr>
          <p:cNvPr id="156" name="TextBox 4"/>
          <p:cNvSpPr/>
          <p:nvPr/>
        </p:nvSpPr>
        <p:spPr>
          <a:xfrm>
            <a:off x="581040" y="2548080"/>
            <a:ext cx="54903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f8fafc"/>
                </a:solidFill>
                <a:latin typeface="Space Grotesk SemiBold"/>
              </a:rPr>
              <a:t>Any Device, Anywhere</a:t>
            </a:r>
            <a:endParaRPr b="0" lang="en-IN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Box 5"/>
          <p:cNvSpPr/>
          <p:nvPr/>
        </p:nvSpPr>
        <p:spPr>
          <a:xfrm>
            <a:off x="581040" y="3033720"/>
            <a:ext cx="522900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401"/>
              </a:lnSpc>
            </a:pPr>
            <a:r>
              <a:rPr b="0" lang="en-US" sz="1500" spc="-1" strike="noStrike">
                <a:solidFill>
                  <a:srgbClr val="cbd5e1"/>
                </a:solidFill>
                <a:latin typeface="Inter"/>
              </a:rPr>
              <a:t>We are actively upgrading CampusOS from a local-only tool to a fully online, cloud-based ecosystem. You will be able to create a secure account and access your workspace from any browser globally.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Box 6"/>
          <p:cNvSpPr/>
          <p:nvPr/>
        </p:nvSpPr>
        <p:spPr>
          <a:xfrm>
            <a:off x="581040" y="4443480"/>
            <a:ext cx="522900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401"/>
              </a:lnSpc>
            </a:pPr>
            <a:r>
              <a:rPr b="0" lang="en-US" sz="1500" spc="-1" strike="noStrike">
                <a:solidFill>
                  <a:srgbClr val="cbd5e1"/>
                </a:solidFill>
                <a:latin typeface="Inter"/>
              </a:rPr>
              <a:t>Your data will be continuously synced in the cloud. Changes made on your laptop will immediately reflect on your mobile device, ensuring a seamless, cross-platform experience with zero data loss.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icture 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60" name="Picture 23" descr="image.png"/>
          <p:cNvPicPr/>
          <p:nvPr/>
        </p:nvPicPr>
        <p:blipFill>
          <a:blip r:embed="rId2"/>
          <a:stretch/>
        </p:blipFill>
        <p:spPr>
          <a:xfrm>
            <a:off x="1386000" y="2100240"/>
            <a:ext cx="3619080" cy="3619080"/>
          </a:xfrm>
          <a:prstGeom prst="rect">
            <a:avLst/>
          </a:prstGeom>
          <a:ln w="0">
            <a:noFill/>
          </a:ln>
        </p:spPr>
      </p:pic>
      <p:sp>
        <p:nvSpPr>
          <p:cNvPr id="161" name="TextBox 15"/>
          <p:cNvSpPr/>
          <p:nvPr/>
        </p:nvSpPr>
        <p:spPr>
          <a:xfrm>
            <a:off x="6381720" y="2209680"/>
            <a:ext cx="14284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200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a855f7"/>
                </a:solidFill>
                <a:latin typeface="Inter SemiBold"/>
              </a:rPr>
              <a:t>COMING SOON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Box 16"/>
          <p:cNvSpPr/>
          <p:nvPr/>
        </p:nvSpPr>
        <p:spPr>
          <a:xfrm>
            <a:off x="6381720" y="2495520"/>
            <a:ext cx="54903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f8fafc"/>
                </a:solidFill>
                <a:latin typeface="Space Grotesk SemiBold"/>
              </a:rPr>
              <a:t>Your Personal Academic Advisor</a:t>
            </a:r>
            <a:endParaRPr b="0" lang="en-IN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Box 18"/>
          <p:cNvSpPr/>
          <p:nvPr/>
        </p:nvSpPr>
        <p:spPr>
          <a:xfrm>
            <a:off x="6381720" y="2981160"/>
            <a:ext cx="522900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401"/>
              </a:lnSpc>
            </a:pPr>
            <a:r>
              <a:rPr b="0" lang="en-US" sz="1500" spc="-1" strike="noStrike">
                <a:solidFill>
                  <a:srgbClr val="cbd5e1"/>
                </a:solidFill>
                <a:latin typeface="Inter"/>
              </a:rPr>
              <a:t>Stop calculating your life manually. Our upcoming AI Copilot will integrate deeply with all CampusOS modules to provide intelligent, instant answers.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Box 19"/>
          <p:cNvSpPr/>
          <p:nvPr/>
        </p:nvSpPr>
        <p:spPr>
          <a:xfrm>
            <a:off x="6381720" y="4086360"/>
            <a:ext cx="5229000" cy="12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1" lang="en-US" sz="1500" spc="-1" strike="noStrike">
                <a:solidFill>
                  <a:srgbClr val="cbd5e1"/>
                </a:solidFill>
                <a:latin typeface="Inter"/>
              </a:rPr>
              <a:t>Ask natural questions like: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cbd5e1"/>
                </a:solidFill>
                <a:latin typeface="Inter"/>
              </a:rPr>
              <a:t> </a:t>
            </a:r>
            <a:r>
              <a:rPr b="0" lang="en-US" sz="1500" spc="-1" strike="noStrike">
                <a:solidFill>
                  <a:srgbClr val="cbd5e1"/>
                </a:solidFill>
                <a:latin typeface="Inter"/>
              </a:rPr>
              <a:t>"How many lectures can I skip in Physics while staying above 80%?"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cbd5e1"/>
                </a:solidFill>
                <a:latin typeface="Inter"/>
              </a:rPr>
              <a:t> </a:t>
            </a:r>
            <a:r>
              <a:rPr b="0" lang="en-US" sz="1500" spc="-1" strike="noStrike">
                <a:solidFill>
                  <a:srgbClr val="cbd5e1"/>
                </a:solidFill>
                <a:latin typeface="Inter"/>
              </a:rPr>
              <a:t>"Am I on track with my food budget this month?"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ts val="2401"/>
              </a:lnSpc>
            </a:pPr>
            <a:r>
              <a:rPr b="0" lang="en-US" sz="1500" spc="-1" strike="noStrike">
                <a:solidFill>
                  <a:srgbClr val="cbd5e1"/>
                </a:solidFill>
                <a:latin typeface="Inter"/>
              </a:rPr>
              <a:t> </a:t>
            </a:r>
            <a:r>
              <a:rPr b="0" lang="en-US" sz="1500" spc="-1" strike="noStrike">
                <a:solidFill>
                  <a:srgbClr val="cbd5e1"/>
                </a:solidFill>
                <a:latin typeface="Inter"/>
              </a:rPr>
              <a:t>"What do I need to score on the final to get an A?"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5" name="Picture 24" descr="image.png"/>
          <p:cNvPicPr/>
          <p:nvPr/>
        </p:nvPicPr>
        <p:blipFill>
          <a:blip r:embed="rId3"/>
          <a:stretch/>
        </p:blipFill>
        <p:spPr>
          <a:xfrm>
            <a:off x="1424160" y="2138400"/>
            <a:ext cx="3543120" cy="3543120"/>
          </a:xfrm>
          <a:prstGeom prst="rect">
            <a:avLst/>
          </a:prstGeom>
          <a:ln w="0">
            <a:noFill/>
          </a:ln>
        </p:spPr>
      </p:pic>
      <p:pic>
        <p:nvPicPr>
          <p:cNvPr id="166" name="Picture 25" descr="image.png"/>
          <p:cNvPicPr/>
          <p:nvPr/>
        </p:nvPicPr>
        <p:blipFill>
          <a:blip r:embed="rId4"/>
          <a:stretch/>
        </p:blipFill>
        <p:spPr>
          <a:xfrm>
            <a:off x="6381720" y="2228760"/>
            <a:ext cx="161640" cy="151920"/>
          </a:xfrm>
          <a:prstGeom prst="rect">
            <a:avLst/>
          </a:prstGeom>
          <a:ln w="0">
            <a:noFill/>
          </a:ln>
        </p:spPr>
      </p:pic>
      <p:sp>
        <p:nvSpPr>
          <p:cNvPr id="167" name="TextBox 20"/>
          <p:cNvSpPr/>
          <p:nvPr/>
        </p:nvSpPr>
        <p:spPr>
          <a:xfrm>
            <a:off x="581040" y="581040"/>
            <a:ext cx="115812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8fafc"/>
                </a:solidFill>
                <a:latin typeface="Space Grotesk"/>
              </a:rPr>
              <a:t>Future Planning: </a:t>
            </a:r>
            <a:r>
              <a:rPr b="1" lang="en-US" sz="3600" spc="-1" strike="noStrike">
                <a:solidFill>
                  <a:srgbClr val="22d3ee"/>
                </a:solidFill>
                <a:latin typeface="Space Grotesk"/>
              </a:rPr>
              <a:t>AI Copilot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69" name="Picture 2" descr="image.png"/>
          <p:cNvPicPr/>
          <p:nvPr/>
        </p:nvPicPr>
        <p:blipFill>
          <a:blip r:embed="rId2"/>
          <a:stretch/>
        </p:blipFill>
        <p:spPr>
          <a:xfrm>
            <a:off x="581040" y="2928960"/>
            <a:ext cx="5229000" cy="1523520"/>
          </a:xfrm>
          <a:prstGeom prst="rect">
            <a:avLst/>
          </a:prstGeom>
          <a:ln w="0">
            <a:noFill/>
          </a:ln>
        </p:spPr>
      </p:pic>
      <p:sp>
        <p:nvSpPr>
          <p:cNvPr id="170" name="TextBox 3"/>
          <p:cNvSpPr/>
          <p:nvPr/>
        </p:nvSpPr>
        <p:spPr>
          <a:xfrm>
            <a:off x="581040" y="4548240"/>
            <a:ext cx="522900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f8fafc"/>
                </a:solidFill>
                <a:latin typeface="Space Grotesk"/>
              </a:rPr>
              <a:t>APPS REPLACED</a:t>
            </a:r>
            <a:endParaRPr b="0" lang="en-IN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Box 4"/>
          <p:cNvSpPr/>
          <p:nvPr/>
        </p:nvSpPr>
        <p:spPr>
          <a:xfrm>
            <a:off x="6381720" y="2752560"/>
            <a:ext cx="54903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f8fafc"/>
                </a:solidFill>
                <a:latin typeface="Space Grotesk SemiBold"/>
              </a:rPr>
              <a:t>Reclaim Your Focus</a:t>
            </a:r>
            <a:endParaRPr b="0" lang="en-IN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Box 5"/>
          <p:cNvSpPr/>
          <p:nvPr/>
        </p:nvSpPr>
        <p:spPr>
          <a:xfrm>
            <a:off x="6381720" y="3238560"/>
            <a:ext cx="522900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401"/>
              </a:lnSpc>
            </a:pPr>
            <a:r>
              <a:rPr b="0" lang="en-US" sz="1500" spc="-1" strike="noStrike">
                <a:solidFill>
                  <a:srgbClr val="cbd5e1"/>
                </a:solidFill>
                <a:latin typeface="Inter"/>
              </a:rPr>
              <a:t>By consolidating tasks, finances, grades, contacts, and career prep into a single, beautifully designed online platform, students drastically reduce digital fatigue.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Box 6"/>
          <p:cNvSpPr/>
          <p:nvPr/>
        </p:nvSpPr>
        <p:spPr>
          <a:xfrm>
            <a:off x="6381720" y="4152960"/>
            <a:ext cx="522900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ts val="2401"/>
              </a:lnSpc>
            </a:pPr>
            <a:r>
              <a:rPr b="0" lang="en-US" sz="1500" spc="-1" strike="noStrike">
                <a:solidFill>
                  <a:srgbClr val="cbd5e1"/>
                </a:solidFill>
                <a:latin typeface="Inter"/>
              </a:rPr>
              <a:t>CampusOS isn't just an app; it's a unified operating system for your academic life, powered by AI to remove the guesswork from your daily decisions.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Box 7"/>
          <p:cNvSpPr/>
          <p:nvPr/>
        </p:nvSpPr>
        <p:spPr>
          <a:xfrm>
            <a:off x="581040" y="581040"/>
            <a:ext cx="115812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8fafc"/>
                </a:solidFill>
                <a:latin typeface="Space Grotesk"/>
              </a:rPr>
              <a:t>Why It Matters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76" name="TextBox 2"/>
          <p:cNvSpPr/>
          <p:nvPr/>
        </p:nvSpPr>
        <p:spPr>
          <a:xfrm>
            <a:off x="2390400" y="1774080"/>
            <a:ext cx="74106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8fafc"/>
                </a:solidFill>
                <a:latin typeface="Space Grotesk"/>
              </a:rPr>
              <a:t>Ready to Upgrade?</a:t>
            </a:r>
            <a:endParaRPr b="0" lang="en-IN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2567160" y="3859560"/>
            <a:ext cx="70578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ts val="3121"/>
              </a:lnSpc>
            </a:pPr>
            <a:r>
              <a:rPr b="0" lang="en-US" sz="1950" spc="-1" strike="noStrike">
                <a:solidFill>
                  <a:srgbClr val="cbd5e1"/>
                </a:solidFill>
                <a:latin typeface="Inter"/>
              </a:rPr>
              <a:t>Join the future of student productivity.</a:t>
            </a:r>
            <a:endParaRPr b="0" lang="en-IN" sz="1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PPT_Plus/1.0.0.0$Windows_X86_64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2026-09-15T23:33:19Z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